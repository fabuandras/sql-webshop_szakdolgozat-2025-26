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5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2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3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52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6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3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0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6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7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4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898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80FCB87-A9C2-6E51-36D5-4E44C40F5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1CDB324-1436-85F1-943D-7D86B9928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746" y="5574719"/>
            <a:ext cx="10860407" cy="834313"/>
          </a:xfrm>
        </p:spPr>
        <p:txBody>
          <a:bodyPr anchor="ctr">
            <a:normAutofit/>
          </a:bodyPr>
          <a:lstStyle/>
          <a:p>
            <a:pPr algn="r"/>
            <a:r>
              <a:rPr lang="hu-HU" dirty="0"/>
              <a:t>Ilyés Borbála &amp; </a:t>
            </a:r>
            <a:r>
              <a:rPr lang="hu-HU" dirty="0" err="1"/>
              <a:t>Fabu</a:t>
            </a:r>
            <a:r>
              <a:rPr lang="hu-HU" dirty="0"/>
              <a:t> András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25EC668-E747-D464-223E-1129F9A6D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0320"/>
            <a:ext cx="12192001" cy="5153821"/>
          </a:xfrm>
          <a:custGeom>
            <a:avLst/>
            <a:gdLst>
              <a:gd name="connsiteX0" fmla="*/ 0 w 12192001"/>
              <a:gd name="connsiteY0" fmla="*/ 0 h 5153821"/>
              <a:gd name="connsiteX1" fmla="*/ 12192001 w 12192001"/>
              <a:gd name="connsiteY1" fmla="*/ 0 h 5153821"/>
              <a:gd name="connsiteX2" fmla="*/ 12192001 w 12192001"/>
              <a:gd name="connsiteY2" fmla="*/ 4475908 h 5153821"/>
              <a:gd name="connsiteX3" fmla="*/ 11514088 w 12192001"/>
              <a:gd name="connsiteY3" fmla="*/ 5153821 h 5153821"/>
              <a:gd name="connsiteX4" fmla="*/ 677913 w 12192001"/>
              <a:gd name="connsiteY4" fmla="*/ 5153821 h 5153821"/>
              <a:gd name="connsiteX5" fmla="*/ 0 w 12192001"/>
              <a:gd name="connsiteY5" fmla="*/ 4475908 h 515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1" h="5153821">
                <a:moveTo>
                  <a:pt x="0" y="0"/>
                </a:moveTo>
                <a:lnTo>
                  <a:pt x="12192001" y="0"/>
                </a:lnTo>
                <a:lnTo>
                  <a:pt x="12192001" y="4475908"/>
                </a:lnTo>
                <a:cubicBezTo>
                  <a:pt x="12192001" y="4850309"/>
                  <a:pt x="11888489" y="5153821"/>
                  <a:pt x="11514088" y="5153821"/>
                </a:cubicBezTo>
                <a:lnTo>
                  <a:pt x="677913" y="5153821"/>
                </a:lnTo>
                <a:cubicBezTo>
                  <a:pt x="303512" y="5153821"/>
                  <a:pt x="0" y="4850309"/>
                  <a:pt x="0" y="447590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Topview mentazöld zöld munkaterület (laptop, kávé, jegyzetfüzet, toll, szemüveg és egér)">
            <a:extLst>
              <a:ext uri="{FF2B5EF4-FFF2-40B4-BE49-F238E27FC236}">
                <a16:creationId xmlns:a16="http://schemas.microsoft.com/office/drawing/2014/main" id="{DCB1604D-F66F-97FE-9C55-A74234889C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36671"/>
          <a:stretch>
            <a:fillRect/>
          </a:stretch>
        </p:blipFill>
        <p:spPr>
          <a:xfrm>
            <a:off x="20" y="-6220"/>
            <a:ext cx="12191981" cy="5153821"/>
          </a:xfrm>
          <a:custGeom>
            <a:avLst/>
            <a:gdLst/>
            <a:ahLst/>
            <a:cxnLst/>
            <a:rect l="l" t="t" r="r" b="b"/>
            <a:pathLst>
              <a:path w="12192001" h="5153821">
                <a:moveTo>
                  <a:pt x="0" y="0"/>
                </a:moveTo>
                <a:lnTo>
                  <a:pt x="12192001" y="0"/>
                </a:lnTo>
                <a:lnTo>
                  <a:pt x="12192001" y="4475908"/>
                </a:lnTo>
                <a:cubicBezTo>
                  <a:pt x="12192001" y="4850309"/>
                  <a:pt x="11888489" y="5153821"/>
                  <a:pt x="11514088" y="5153821"/>
                </a:cubicBezTo>
                <a:lnTo>
                  <a:pt x="677913" y="5153821"/>
                </a:lnTo>
                <a:cubicBezTo>
                  <a:pt x="303512" y="5153821"/>
                  <a:pt x="0" y="4850309"/>
                  <a:pt x="0" y="4475908"/>
                </a:cubicBez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A8A0C32-7E05-E8FB-F35A-22FF1CB99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26909"/>
            <a:ext cx="7806912" cy="3316897"/>
          </a:xfrm>
        </p:spPr>
        <p:txBody>
          <a:bodyPr anchor="t">
            <a:normAutofit/>
          </a:bodyPr>
          <a:lstStyle/>
          <a:p>
            <a:r>
              <a:rPr lang="hu-HU" sz="7200" dirty="0">
                <a:solidFill>
                  <a:srgbClr val="FFFFFF"/>
                </a:solidFill>
              </a:rPr>
              <a:t>Szakdolgozat</a:t>
            </a:r>
            <a:br>
              <a:rPr lang="hu-HU" sz="7200" dirty="0">
                <a:solidFill>
                  <a:srgbClr val="FFFFFF"/>
                </a:solidFill>
              </a:rPr>
            </a:br>
            <a:r>
              <a:rPr lang="hu-HU" sz="7200" dirty="0">
                <a:solidFill>
                  <a:srgbClr val="FFFFFF"/>
                </a:solidFill>
              </a:rPr>
              <a:t>Adatbázis (SQL)</a:t>
            </a:r>
          </a:p>
        </p:txBody>
      </p:sp>
    </p:spTree>
    <p:extLst>
      <p:ext uri="{BB962C8B-B14F-4D97-AF65-F5344CB8AC3E}">
        <p14:creationId xmlns:p14="http://schemas.microsoft.com/office/powerpoint/2010/main" val="154441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6974606-F1A9-245C-CF78-4260D8A5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3034"/>
            <a:ext cx="4256263" cy="17996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„Felhasznalo” tábla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8451345-CE93-7638-9E50-160EA639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9/25/2025</a:t>
            </a:fld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0308B83-EAAB-945B-8E40-A7AC7319DB50}"/>
              </a:ext>
            </a:extLst>
          </p:cNvPr>
          <p:cNvSpPr txBox="1"/>
          <p:nvPr/>
        </p:nvSpPr>
        <p:spPr>
          <a:xfrm>
            <a:off x="340619" y="2805545"/>
            <a:ext cx="4256263" cy="33194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A tábla célja a személyes adatok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tárolása.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endParaRPr lang="en-US"/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„vKod” az elsődleges kulcs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endParaRPr lang="en-US"/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Ezt a táblát a bejelentkezéshez és a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vásárlásnál használjuk.</a:t>
            </a: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5BD99A4F-207E-3795-92E9-B1878FB47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9846" y="1830883"/>
            <a:ext cx="5467230" cy="3211132"/>
          </a:xfrm>
          <a:prstGeom prst="rect">
            <a:avLst/>
          </a:prstGeom>
        </p:spPr>
      </p:pic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E26E88F-8C08-4AF0-2E27-9DD9C288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C53A535-AC03-F5E0-C965-DE6E7C77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424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042AA3-5BE5-3AE5-5A03-B899D5ADD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3CFF2F6-DAB2-A72A-810A-BD56F82A4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162"/>
            <a:ext cx="4797012" cy="18025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„Cikk” tábla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F4A704B-EBB7-AC5B-A93A-32A5CA75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9/25/2025</a:t>
            </a:fld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561D1A9E-97FD-B2DA-10FA-23B48E8B93F2}"/>
              </a:ext>
            </a:extLst>
          </p:cNvPr>
          <p:cNvSpPr txBox="1"/>
          <p:nvPr/>
        </p:nvSpPr>
        <p:spPr>
          <a:xfrm>
            <a:off x="1037812" y="954282"/>
            <a:ext cx="4765264" cy="35551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Ez a </a:t>
            </a:r>
            <a:r>
              <a:rPr lang="en-US" dirty="0" err="1"/>
              <a:t>tábla</a:t>
            </a:r>
            <a:r>
              <a:rPr lang="en-US" dirty="0"/>
              <a:t> </a:t>
            </a:r>
            <a:r>
              <a:rPr lang="en-US" dirty="0" err="1"/>
              <a:t>tárolja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terméknek</a:t>
            </a:r>
            <a:r>
              <a:rPr lang="en-US" dirty="0"/>
              <a:t> </a:t>
            </a:r>
            <a:r>
              <a:rPr lang="en-US" dirty="0" err="1"/>
              <a:t>az</a:t>
            </a:r>
            <a:endParaRPr lang="en-US" dirty="0"/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 dirty="0" err="1"/>
              <a:t>adatait</a:t>
            </a:r>
            <a:r>
              <a:rPr lang="en-US" dirty="0"/>
              <a:t>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endParaRPr lang="en-US" dirty="0"/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 dirty="0" err="1"/>
              <a:t>Ezt</a:t>
            </a:r>
            <a:r>
              <a:rPr lang="en-US" dirty="0"/>
              <a:t> a </a:t>
            </a:r>
            <a:r>
              <a:rPr lang="en-US" dirty="0" err="1"/>
              <a:t>táblát</a:t>
            </a:r>
            <a:r>
              <a:rPr lang="en-US" dirty="0"/>
              <a:t> </a:t>
            </a:r>
            <a:r>
              <a:rPr lang="en-US" dirty="0" err="1"/>
              <a:t>vásárlásnál</a:t>
            </a:r>
            <a:r>
              <a:rPr lang="en-US" dirty="0"/>
              <a:t> </a:t>
            </a:r>
            <a:r>
              <a:rPr lang="en-US" dirty="0" err="1"/>
              <a:t>használjuk</a:t>
            </a:r>
            <a:r>
              <a:rPr lang="en-US" dirty="0"/>
              <a:t>.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4E20BCB-8196-1122-DE4C-6DD264344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9274" y="838200"/>
            <a:ext cx="5244527" cy="5181600"/>
          </a:xfrm>
          <a:custGeom>
            <a:avLst/>
            <a:gdLst>
              <a:gd name="connsiteX0" fmla="*/ 525103 w 5244527"/>
              <a:gd name="connsiteY0" fmla="*/ 0 h 5181600"/>
              <a:gd name="connsiteX1" fmla="*/ 4719424 w 5244527"/>
              <a:gd name="connsiteY1" fmla="*/ 0 h 5181600"/>
              <a:gd name="connsiteX2" fmla="*/ 5244527 w 5244527"/>
              <a:gd name="connsiteY2" fmla="*/ 525103 h 5181600"/>
              <a:gd name="connsiteX3" fmla="*/ 5244527 w 5244527"/>
              <a:gd name="connsiteY3" fmla="*/ 4656497 h 5181600"/>
              <a:gd name="connsiteX4" fmla="*/ 4719424 w 5244527"/>
              <a:gd name="connsiteY4" fmla="*/ 5181600 h 5181600"/>
              <a:gd name="connsiteX5" fmla="*/ 525103 w 5244527"/>
              <a:gd name="connsiteY5" fmla="*/ 5181600 h 5181600"/>
              <a:gd name="connsiteX6" fmla="*/ 0 w 5244527"/>
              <a:gd name="connsiteY6" fmla="*/ 4656497 h 5181600"/>
              <a:gd name="connsiteX7" fmla="*/ 0 w 5244527"/>
              <a:gd name="connsiteY7" fmla="*/ 525103 h 5181600"/>
              <a:gd name="connsiteX8" fmla="*/ 525103 w 5244527"/>
              <a:gd name="connsiteY8" fmla="*/ 0 h 518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44527" h="5181600">
                <a:moveTo>
                  <a:pt x="525103" y="0"/>
                </a:moveTo>
                <a:lnTo>
                  <a:pt x="4719424" y="0"/>
                </a:lnTo>
                <a:cubicBezTo>
                  <a:pt x="5009430" y="0"/>
                  <a:pt x="5244527" y="235097"/>
                  <a:pt x="5244527" y="525103"/>
                </a:cubicBezTo>
                <a:lnTo>
                  <a:pt x="5244527" y="4656497"/>
                </a:lnTo>
                <a:cubicBezTo>
                  <a:pt x="5244527" y="4946503"/>
                  <a:pt x="5009430" y="5181600"/>
                  <a:pt x="4719424" y="5181600"/>
                </a:cubicBezTo>
                <a:lnTo>
                  <a:pt x="525103" y="5181600"/>
                </a:lnTo>
                <a:cubicBezTo>
                  <a:pt x="235097" y="5181600"/>
                  <a:pt x="0" y="4946503"/>
                  <a:pt x="0" y="4656497"/>
                </a:cubicBezTo>
                <a:lnTo>
                  <a:pt x="0" y="525103"/>
                </a:lnTo>
                <a:cubicBezTo>
                  <a:pt x="0" y="235097"/>
                  <a:pt x="235097" y="0"/>
                  <a:pt x="5251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E194ACC4-99CC-82F5-1720-4512774E2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6949" y="2731851"/>
            <a:ext cx="3856569" cy="1394297"/>
          </a:xfrm>
          <a:prstGeom prst="rect">
            <a:avLst/>
          </a:prstGeom>
        </p:spPr>
      </p:pic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B8AE557-F023-D00B-0823-94550B69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435125E-DD39-3887-2F87-26F67FD9E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20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D96276D-6F61-BEFB-DDE3-853C88B49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46298BA-1E21-FDE9-EDF1-E0C613FF9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834736"/>
            <a:ext cx="4248622" cy="53711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„Csomag” tábla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FB0546-A169-A479-DB5E-BB0E2A53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9/25/2025</a:t>
            </a:fld>
            <a:endParaRPr lang="en-US"/>
          </a:p>
        </p:txBody>
      </p:sp>
      <p:sp>
        <p:nvSpPr>
          <p:cNvPr id="19" name="Freeform: Shape 15">
            <a:extLst>
              <a:ext uri="{FF2B5EF4-FFF2-40B4-BE49-F238E27FC236}">
                <a16:creationId xmlns:a16="http://schemas.microsoft.com/office/drawing/2014/main" id="{2950B83A-2A26-78E8-808B-728608F6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677913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677913 w 6096000"/>
              <a:gd name="connsiteY3" fmla="*/ 6858000 h 6858000"/>
              <a:gd name="connsiteX4" fmla="*/ 0 w 6096000"/>
              <a:gd name="connsiteY4" fmla="*/ 6180087 h 6858000"/>
              <a:gd name="connsiteX5" fmla="*/ 0 w 6096000"/>
              <a:gd name="connsiteY5" fmla="*/ 677913 h 6858000"/>
              <a:gd name="connsiteX6" fmla="*/ 677913 w 6096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81628B89-20E1-3AE9-BE72-84CEC142F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9535" y="1521766"/>
            <a:ext cx="4467594" cy="1074050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632D0E5B-9F11-8410-12A2-5166B7D40DCC}"/>
              </a:ext>
            </a:extLst>
          </p:cNvPr>
          <p:cNvSpPr txBox="1"/>
          <p:nvPr/>
        </p:nvSpPr>
        <p:spPr>
          <a:xfrm>
            <a:off x="6817567" y="3575155"/>
            <a:ext cx="4586384" cy="254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Ennek a táblának a célja az, hogy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csomagot hozzunk létre, amit meg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lehet vásárolni.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7B7438E-D90A-8DB0-DE33-6D605E36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0B8CAC8-7DB0-D778-50CE-CF6F0358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69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CA9E9D-6A76-A56D-C4DE-0910EA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FB7E5ED-F72A-DBA0-549D-BABA6DAC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16E662D-B687-75E8-3A31-EC38E846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„Rendeles” tábla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ADA5A1E-BB4F-903F-4622-2B8554DB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9/25/2025</a:t>
            </a:fld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7FF8C94-1420-EC3B-0D04-137CA4653CF9}"/>
              </a:ext>
            </a:extLst>
          </p:cNvPr>
          <p:cNvSpPr txBox="1"/>
          <p:nvPr/>
        </p:nvSpPr>
        <p:spPr>
          <a:xfrm>
            <a:off x="969819" y="2493818"/>
            <a:ext cx="5126181" cy="3685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Ennek a táblának az a célja, hogy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a csomagot, amit létrehoztunk azt egy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rendelésbe belerakjuk, hogy azt meg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tudjuk vásárolni.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endParaRPr lang="en-US">
              <a:solidFill>
                <a:schemeClr val="bg1"/>
              </a:solidFill>
            </a:endParaRP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Elsődleges kulcs: „rendeles_szam”</a:t>
            </a: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964C34DC-B5C4-1FA2-F0D2-886C186A2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2212" y="3504526"/>
            <a:ext cx="4460033" cy="1603353"/>
          </a:xfrm>
          <a:prstGeom prst="rect">
            <a:avLst/>
          </a:prstGeom>
        </p:spPr>
      </p:pic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D205A72-456A-61A2-6C8F-19C094BE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A7A914-BD7A-BD11-531F-E00B751B4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55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3">
            <a:extLst>
              <a:ext uri="{FF2B5EF4-FFF2-40B4-BE49-F238E27FC236}">
                <a16:creationId xmlns:a16="http://schemas.microsoft.com/office/drawing/2014/main" id="{FA042AA3-5BE5-3AE5-5A03-B899D5ADD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A076F76-6C67-6101-DAE7-542B7134E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4159579"/>
            <a:ext cx="4419122" cy="20375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b="1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„Rendeles_tetel” tábla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6DE5572-2435-9777-300A-B80CB0DD8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9/25/2025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20E2FDAA-A601-3100-6786-656408ACD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840" y="1797786"/>
            <a:ext cx="3415629" cy="1048275"/>
          </a:xfrm>
          <a:prstGeom prst="rect">
            <a:avLst/>
          </a:prstGeom>
        </p:spPr>
      </p:pic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8F025063-E4F8-5B1B-E865-AD8F346B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3224" y="0"/>
            <a:ext cx="7122654" cy="6858000"/>
          </a:xfrm>
          <a:custGeom>
            <a:avLst/>
            <a:gdLst>
              <a:gd name="connsiteX0" fmla="*/ 677913 w 7122654"/>
              <a:gd name="connsiteY0" fmla="*/ 0 h 6858000"/>
              <a:gd name="connsiteX1" fmla="*/ 1701556 w 7122654"/>
              <a:gd name="connsiteY1" fmla="*/ 0 h 6858000"/>
              <a:gd name="connsiteX2" fmla="*/ 6099011 w 7122654"/>
              <a:gd name="connsiteY2" fmla="*/ 0 h 6858000"/>
              <a:gd name="connsiteX3" fmla="*/ 7122654 w 7122654"/>
              <a:gd name="connsiteY3" fmla="*/ 0 h 6858000"/>
              <a:gd name="connsiteX4" fmla="*/ 7122654 w 7122654"/>
              <a:gd name="connsiteY4" fmla="*/ 6858000 h 6858000"/>
              <a:gd name="connsiteX5" fmla="*/ 6099011 w 7122654"/>
              <a:gd name="connsiteY5" fmla="*/ 6858000 h 6858000"/>
              <a:gd name="connsiteX6" fmla="*/ 1701556 w 7122654"/>
              <a:gd name="connsiteY6" fmla="*/ 6858000 h 6858000"/>
              <a:gd name="connsiteX7" fmla="*/ 677913 w 7122654"/>
              <a:gd name="connsiteY7" fmla="*/ 6858000 h 6858000"/>
              <a:gd name="connsiteX8" fmla="*/ 0 w 7122654"/>
              <a:gd name="connsiteY8" fmla="*/ 6180087 h 6858000"/>
              <a:gd name="connsiteX9" fmla="*/ 0 w 7122654"/>
              <a:gd name="connsiteY9" fmla="*/ 677913 h 6858000"/>
              <a:gd name="connsiteX10" fmla="*/ 677913 w 712265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22654" h="6858000">
                <a:moveTo>
                  <a:pt x="677913" y="0"/>
                </a:moveTo>
                <a:lnTo>
                  <a:pt x="1701556" y="0"/>
                </a:lnTo>
                <a:lnTo>
                  <a:pt x="6099011" y="0"/>
                </a:lnTo>
                <a:lnTo>
                  <a:pt x="7122654" y="0"/>
                </a:lnTo>
                <a:lnTo>
                  <a:pt x="7122654" y="6858000"/>
                </a:lnTo>
                <a:lnTo>
                  <a:pt x="6099011" y="6858000"/>
                </a:lnTo>
                <a:lnTo>
                  <a:pt x="1701556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CD132F93-F57D-259F-9FF5-011FBC793B22}"/>
              </a:ext>
            </a:extLst>
          </p:cNvPr>
          <p:cNvSpPr txBox="1"/>
          <p:nvPr/>
        </p:nvSpPr>
        <p:spPr>
          <a:xfrm>
            <a:off x="6015134" y="838201"/>
            <a:ext cx="5306009" cy="5338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Ennk a táblának összetett kulcs van,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a „rendeles_szam” és a „cikk_szam”,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amelyek a „cikk” és a „rendeles” tábla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elsődleges kulcsai.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endParaRPr lang="en-US"/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A tábla célja, a rendelés leadása és a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/>
              <a:t>vásárlás befejezése.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45B2A40-38EB-DF3F-303C-494BD2C6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3D9BFC2-598E-EED2-3A3C-E9AB9DF8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63048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192</Words>
  <Application>Microsoft Office PowerPoint</Application>
  <PresentationFormat>Szélesvásznú</PresentationFormat>
  <Paragraphs>49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DylanVTI</vt:lpstr>
      <vt:lpstr>Szakdolgozat Adatbázis (SQL)</vt:lpstr>
      <vt:lpstr>„Felhasznalo” tábla</vt:lpstr>
      <vt:lpstr>„Cikk” tábla</vt:lpstr>
      <vt:lpstr>„Csomag” tábla</vt:lpstr>
      <vt:lpstr>„Rendeles” tábla</vt:lpstr>
      <vt:lpstr>„Rendeles_tetel” tábla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fabu.a.norbert</dc:creator>
  <cp:lastModifiedBy>fabu.a.norbert</cp:lastModifiedBy>
  <cp:revision>1</cp:revision>
  <dcterms:created xsi:type="dcterms:W3CDTF">2025-09-25T09:40:59Z</dcterms:created>
  <dcterms:modified xsi:type="dcterms:W3CDTF">2025-09-25T09:54:17Z</dcterms:modified>
</cp:coreProperties>
</file>